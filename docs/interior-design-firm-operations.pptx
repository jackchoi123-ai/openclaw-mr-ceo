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览" id="{c33f9286-39c6-d714-9408-a04047846841}">
          <p14:sldIdLst>
            <p14:sldId id="256"/>
            <p14:sldId id="257"/>
          </p14:sldIdLst>
        </p14:section>
        <p14:section name="业务与项目承接" id="{0398199b-969b-976c-9f08-2bfd917366c6}">
          <p14:sldIdLst>
            <p14:sldId id="258"/>
            <p14:sldId id="259"/>
            <p14:sldId id="260"/>
          </p14:sldIdLst>
        </p14:section>
        <p14:section name="设计与交付" id="{39ba64c0-d8ee-14be-3e8c-169005d992ec}">
          <p14:sldIdLst>
            <p14:sldId id="261"/>
            <p14:sldId id="262"/>
            <p14:sldId id="263"/>
          </p14:sldIdLst>
        </p14:section>
        <p14:section name="运营与收入" id="{d6f7e184-84da-3292-698d-55567cb7b355}">
          <p14:sldIdLst>
            <p14:sldId id="264"/>
            <p14:sldId id="265"/>
            <p14:sldId id="266"/>
          </p14:sldIdLst>
        </p14:section>
        <p14:section name="总结" id="{16230029-e788-acd5-e28b-c75bd866024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本份简报整理正规大型室内设计公司的典型运作方式，共八个环节，最后附补充要点和总结。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先讲结论：大型公司的核心是流程标准化、专业分工和质量控制。下面按八个环节展开。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大公司有专职 BD 和营销团队，客户来源以开发商、建筑师、酒店、商业地产为主，大项目多通过招标或直接邀请获得。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负责人亲自洽谈，签正式设计服务合同，明确设计费比例、付款节点、知识产权和修改次数。大公司一般收设计费和项目管理费两部分。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总监把控风格与质量，项目经理负责进度预算和协调，下面是设计师、采购专员和现场监工三条线。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设计流程分六个阶段：概念、深化、施工图属于设计工作；招标采购、施工管理、完工验收属于执行与交付。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设计费在前三个阶段按比例分期收；项目管理费覆盖招标采购和施工管理；完工验收后收尾款。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质量控制有三道关：设计评审会、图纸规格书 QC、重要项目由总监亲自把关。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财务、行政和 HR 由独立团队负责，项目进度统一放在项目管理系统里追踪。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设计费约占造价 8 到 15%，项目管理费另收 3 到 8%。举例中的金额是按这两个比例直接换算的。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设计团队通常 15 到 40 人，同时推进 8 到 20 个项目，类型以高端住宅、酒店、办公室、商场、医院等大型项目为主。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这一页是补充内容，不在原笔记里，具体规定和数字需要核实。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总结：标准化流程、专业分工和质量控制。下一步可以深入设计费计算、项目管理或质量控制。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大型 Interior Design Firm 的运作模式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大型 Interior Design Firm 的运作模式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从业务开发到完工验收的完整流程 · 以马来西亚市场为例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8778240" y="182880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ero icon" descr="椅子图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4231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核心：靠体系运作，而不是个人单打独斗</a:t>
            </a:r>
            <a:endParaRPr lang="en-US" sz="3000" dirty="0"/>
          </a:p>
        </p:txBody>
      </p:sp>
      <p:sp>
        <p:nvSpPr>
          <p:cNvPr id="3" name="Pillar 1"/>
          <p:cNvSpPr/>
          <p:nvPr/>
        </p:nvSpPr>
        <p:spPr>
          <a:xfrm>
            <a:off x="548640" y="137160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流程标准化 circl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流程标准化 icon" descr="流程标准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流程标准化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每个项目走同一套阶段、交付物和收费节点</a:t>
            </a:r>
            <a:endParaRPr lang="en-US" sz="1400" dirty="0"/>
          </a:p>
        </p:txBody>
      </p:sp>
      <p:sp>
        <p:nvSpPr>
          <p:cNvPr id="8" name="Pillar 2"/>
          <p:cNvSpPr/>
          <p:nvPr/>
        </p:nvSpPr>
        <p:spPr>
          <a:xfrm>
            <a:off x="4297680" y="137160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团队专业分工 circle"/>
          <p:cNvSpPr/>
          <p:nvPr/>
        </p:nvSpPr>
        <p:spPr>
          <a:xfrm>
            <a:off x="461772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团队专业分工 icon" descr="团队专业分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4" y="18068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团队专业分工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设计、项目管理、采购、监工各有专人</a:t>
            </a:r>
            <a:endParaRPr lang="en-US" sz="1400" dirty="0"/>
          </a:p>
        </p:txBody>
      </p:sp>
      <p:sp>
        <p:nvSpPr>
          <p:cNvPr id="13" name="Pillar 3"/>
          <p:cNvSpPr/>
          <p:nvPr/>
        </p:nvSpPr>
        <p:spPr>
          <a:xfrm>
            <a:off x="8046720" y="137160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严格的质量控制 circle"/>
          <p:cNvSpPr/>
          <p:nvPr/>
        </p:nvSpPr>
        <p:spPr>
          <a:xfrm>
            <a:off x="83667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严格的质量控制 icon" descr="严格的质量控制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180685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严格的质量控制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设计评审会 + 图纸 QC + 总监把关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本简报涵盖的 8 个环节</a:t>
            </a:r>
            <a:endParaRPr lang="en-US" sz="1600" dirty="0"/>
          </a:p>
        </p:txBody>
      </p:sp>
      <p:sp>
        <p:nvSpPr>
          <p:cNvPr id="19" name="Agenda num 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业务开发与营销</a:t>
            </a:r>
            <a:endParaRPr lang="en-US" sz="1500" dirty="0"/>
          </a:p>
        </p:txBody>
      </p:sp>
      <p:sp>
        <p:nvSpPr>
          <p:cNvPr id="22" name="Agenda num 2"/>
          <p:cNvSpPr/>
          <p:nvPr/>
        </p:nvSpPr>
        <p:spPr>
          <a:xfrm>
            <a:off x="3360420" y="457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3604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395478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项目承接与合同</a:t>
            </a:r>
            <a:endParaRPr lang="en-US" sz="1500" dirty="0"/>
          </a:p>
        </p:txBody>
      </p:sp>
      <p:sp>
        <p:nvSpPr>
          <p:cNvPr id="25" name="Agenda num 3"/>
          <p:cNvSpPr/>
          <p:nvPr/>
        </p:nvSpPr>
        <p:spPr>
          <a:xfrm>
            <a:off x="6172200" y="457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1722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76656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项目团队组建</a:t>
            </a:r>
            <a:endParaRPr lang="en-US" sz="1500" dirty="0"/>
          </a:p>
        </p:txBody>
      </p:sp>
      <p:sp>
        <p:nvSpPr>
          <p:cNvPr id="28" name="Agenda num 4"/>
          <p:cNvSpPr/>
          <p:nvPr/>
        </p:nvSpPr>
        <p:spPr>
          <a:xfrm>
            <a:off x="8983980" y="457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9839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95783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设计流程</a:t>
            </a:r>
            <a:endParaRPr lang="en-US" sz="1500" dirty="0"/>
          </a:p>
        </p:txBody>
      </p:sp>
      <p:sp>
        <p:nvSpPr>
          <p:cNvPr id="31" name="Agenda num 5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质量控制</a:t>
            </a:r>
            <a:endParaRPr lang="en-US" sz="1500" dirty="0"/>
          </a:p>
        </p:txBody>
      </p:sp>
      <p:sp>
        <p:nvSpPr>
          <p:cNvPr id="34" name="Agenda num 6"/>
          <p:cNvSpPr/>
          <p:nvPr/>
        </p:nvSpPr>
        <p:spPr>
          <a:xfrm>
            <a:off x="3360420" y="5257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3604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395478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财务与行政</a:t>
            </a:r>
            <a:endParaRPr lang="en-US" sz="1500" dirty="0"/>
          </a:p>
        </p:txBody>
      </p:sp>
      <p:sp>
        <p:nvSpPr>
          <p:cNvPr id="37" name="Agenda num 7"/>
          <p:cNvSpPr/>
          <p:nvPr/>
        </p:nvSpPr>
        <p:spPr>
          <a:xfrm>
            <a:off x="6172200" y="5257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1722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676656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收入结构</a:t>
            </a:r>
            <a:endParaRPr lang="en-US" sz="1500" dirty="0"/>
          </a:p>
        </p:txBody>
      </p:sp>
      <p:sp>
        <p:nvSpPr>
          <p:cNvPr id="40" name="Agenda num 8"/>
          <p:cNvSpPr/>
          <p:nvPr/>
        </p:nvSpPr>
        <p:spPr>
          <a:xfrm>
            <a:off x="8983980" y="52578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9839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957834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团队规模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  业务开发与营销：专职团队，多渠道获客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主要客户渠道</a:t>
            </a:r>
            <a:endParaRPr lang="en-US" sz="1600" dirty="0"/>
          </a:p>
        </p:txBody>
      </p:sp>
      <p:sp>
        <p:nvSpPr>
          <p:cNvPr id="4" name="Channel 地产开发商"/>
          <p:cNvSpPr/>
          <p:nvPr/>
        </p:nvSpPr>
        <p:spPr>
          <a:xfrm>
            <a:off x="548640" y="182880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地产开发商 circle"/>
          <p:cNvSpPr/>
          <p:nvPr/>
        </p:nvSpPr>
        <p:spPr>
          <a:xfrm>
            <a:off x="1207008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地产开发商 icon" descr="地产开发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42" y="22640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地产开发商</a:t>
            </a:r>
            <a:endParaRPr lang="en-US" sz="1500" dirty="0"/>
          </a:p>
        </p:txBody>
      </p:sp>
      <p:sp>
        <p:nvSpPr>
          <p:cNvPr id="8" name="Channel 建筑师事务所"/>
          <p:cNvSpPr/>
          <p:nvPr/>
        </p:nvSpPr>
        <p:spPr>
          <a:xfrm>
            <a:off x="2834640" y="182880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9" name="建筑师事务所 circle"/>
          <p:cNvSpPr/>
          <p:nvPr/>
        </p:nvSpPr>
        <p:spPr>
          <a:xfrm>
            <a:off x="3493008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建筑师事务所 icon" descr="建筑师事务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42" y="22640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2608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建筑师事务所</a:t>
            </a:r>
            <a:endParaRPr lang="en-US" sz="1500" dirty="0"/>
          </a:p>
        </p:txBody>
      </p:sp>
      <p:sp>
        <p:nvSpPr>
          <p:cNvPr id="12" name="Channel 酒店集团"/>
          <p:cNvSpPr/>
          <p:nvPr/>
        </p:nvSpPr>
        <p:spPr>
          <a:xfrm>
            <a:off x="5120640" y="182880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酒店集团 circle"/>
          <p:cNvSpPr/>
          <p:nvPr/>
        </p:nvSpPr>
        <p:spPr>
          <a:xfrm>
            <a:off x="5779008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酒店集团 icon" descr="酒店集团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42" y="226405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1208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酒店集团</a:t>
            </a:r>
            <a:endParaRPr lang="en-US" sz="1500" dirty="0"/>
          </a:p>
        </p:txBody>
      </p:sp>
      <p:sp>
        <p:nvSpPr>
          <p:cNvPr id="16" name="Channel 商业地产"/>
          <p:cNvSpPr/>
          <p:nvPr/>
        </p:nvSpPr>
        <p:spPr>
          <a:xfrm>
            <a:off x="548640" y="393192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7" name="商业地产 circle"/>
          <p:cNvSpPr/>
          <p:nvPr/>
        </p:nvSpPr>
        <p:spPr>
          <a:xfrm>
            <a:off x="1207008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商业地产 icon" descr="商业地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942" y="436717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0080" y="5120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商业地产</a:t>
            </a:r>
            <a:endParaRPr lang="en-US" sz="1500" dirty="0"/>
          </a:p>
        </p:txBody>
      </p:sp>
      <p:sp>
        <p:nvSpPr>
          <p:cNvPr id="20" name="Channel 口碑转介"/>
          <p:cNvSpPr/>
          <p:nvPr/>
        </p:nvSpPr>
        <p:spPr>
          <a:xfrm>
            <a:off x="2834640" y="393192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1" name="口碑转介 circle"/>
          <p:cNvSpPr/>
          <p:nvPr/>
        </p:nvSpPr>
        <p:spPr>
          <a:xfrm>
            <a:off x="3493008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口碑转介 icon" descr="口碑转介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942" y="4367174"/>
            <a:ext cx="409651" cy="4096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926080" y="5120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口碑转介</a:t>
            </a:r>
            <a:endParaRPr lang="en-US" sz="1500" dirty="0"/>
          </a:p>
        </p:txBody>
      </p:sp>
      <p:sp>
        <p:nvSpPr>
          <p:cNvPr id="24" name="Channel 高端住宅业主"/>
          <p:cNvSpPr/>
          <p:nvPr/>
        </p:nvSpPr>
        <p:spPr>
          <a:xfrm>
            <a:off x="5120640" y="3931920"/>
            <a:ext cx="205740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5" name="高端住宅业主 circle"/>
          <p:cNvSpPr/>
          <p:nvPr/>
        </p:nvSpPr>
        <p:spPr>
          <a:xfrm>
            <a:off x="5779008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高端住宅业主 icon" descr="高端住宅业主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942" y="4367174"/>
            <a:ext cx="409651" cy="40965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5120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高端住宅业主</a:t>
            </a:r>
            <a:endParaRPr lang="en-US" sz="1500" dirty="0"/>
          </a:p>
        </p:txBody>
      </p:sp>
      <p:sp>
        <p:nvSpPr>
          <p:cNvPr id="28" name="Marketing panel"/>
          <p:cNvSpPr/>
          <p:nvPr/>
        </p:nvSpPr>
        <p:spPr>
          <a:xfrm>
            <a:off x="7589520" y="1325880"/>
            <a:ext cx="4023360" cy="475488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9095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营销动作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909560" y="20574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设有专职 BD / Marketing 团队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定期参加设计展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发布作品集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维护专业网站和 Instagram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790956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大项目怎么拿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909560" y="43891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招标（Tender）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公开或邀请比稿、比价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直接邀请（Invitation）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靠口碑与过往作品获邀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  项目承接与合同：先把规则写清楚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初步洽谈 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初步洽谈 icon" descr="初步洽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967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初步洽谈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Principal / 总监亲自洽谈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3931920" y="2194560"/>
            <a:ext cx="32004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Step 2"/>
          <p:cNvSpPr/>
          <p:nvPr/>
        </p:nvSpPr>
        <p:spPr>
          <a:xfrm>
            <a:off x="4343400" y="137160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签订设计服务合同 circle"/>
          <p:cNvSpPr/>
          <p:nvPr/>
        </p:nvSpPr>
        <p:spPr>
          <a:xfrm>
            <a:off x="461772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签订设计服务合同 icon" descr="签订设计服务合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17967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签订设计服务合同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正式合同，条款明确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7726680" y="2194560"/>
            <a:ext cx="32004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Step 3"/>
          <p:cNvSpPr/>
          <p:nvPr/>
        </p:nvSpPr>
        <p:spPr>
          <a:xfrm>
            <a:off x="8138160" y="1371600"/>
            <a:ext cx="32918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两部分收费 circle"/>
          <p:cNvSpPr/>
          <p:nvPr/>
        </p:nvSpPr>
        <p:spPr>
          <a:xfrm>
            <a:off x="841248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两部分收费 icon" descr="两部分收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17967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两部分收费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2880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设计费 + 项目管理费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合同必须写明的 4 项条款</a:t>
            </a:r>
            <a:endParaRPr lang="en-US" sz="1600" dirty="0"/>
          </a:p>
        </p:txBody>
      </p:sp>
      <p:sp>
        <p:nvSpPr>
          <p:cNvPr id="21" name="Term 设计费比例"/>
          <p:cNvSpPr/>
          <p:nvPr/>
        </p:nvSpPr>
        <p:spPr>
          <a:xfrm>
            <a:off x="548640" y="425196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01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设计费比例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按项目总造价的百分比</a:t>
            </a:r>
            <a:endParaRPr lang="en-US" sz="1300" dirty="0"/>
          </a:p>
        </p:txBody>
      </p:sp>
      <p:sp>
        <p:nvSpPr>
          <p:cNvPr id="25" name="Term 付款节点"/>
          <p:cNvSpPr/>
          <p:nvPr/>
        </p:nvSpPr>
        <p:spPr>
          <a:xfrm>
            <a:off x="3383280" y="425196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65760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02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36576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付款节点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365760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按设计阶段分期收取</a:t>
            </a:r>
            <a:endParaRPr lang="en-US" sz="1300" dirty="0"/>
          </a:p>
        </p:txBody>
      </p:sp>
      <p:sp>
        <p:nvSpPr>
          <p:cNvPr id="29" name="Term 知识产权归属"/>
          <p:cNvSpPr/>
          <p:nvPr/>
        </p:nvSpPr>
        <p:spPr>
          <a:xfrm>
            <a:off x="6217920" y="425196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49224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03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知识产权归属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图纸与方案归谁所有</a:t>
            </a:r>
            <a:endParaRPr lang="en-US" sz="1300" dirty="0"/>
          </a:p>
        </p:txBody>
      </p:sp>
      <p:sp>
        <p:nvSpPr>
          <p:cNvPr id="33" name="Term 修改次数限制"/>
          <p:cNvSpPr/>
          <p:nvPr/>
        </p:nvSpPr>
        <p:spPr>
          <a:xfrm>
            <a:off x="9052560" y="425196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932688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04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932688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修改次数限制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9326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避免无限改图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  项目团队：每个项目一支跨职能团队</a:t>
            </a:r>
            <a:endParaRPr lang="en-US" sz="3000" dirty="0"/>
          </a:p>
        </p:txBody>
      </p:sp>
      <p:sp>
        <p:nvSpPr>
          <p:cNvPr id="3" name="Role Director"/>
          <p:cNvSpPr/>
          <p:nvPr/>
        </p:nvSpPr>
        <p:spPr>
          <a:xfrm>
            <a:off x="4023360" y="1325880"/>
            <a:ext cx="411480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25196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Design Director / Principal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51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整体把控风格与质量</a:t>
            </a:r>
            <a:endParaRPr lang="en-US" sz="1400" dirty="0"/>
          </a:p>
        </p:txBody>
      </p:sp>
      <p:sp>
        <p:nvSpPr>
          <p:cNvPr id="6" name="Link 1"/>
          <p:cNvSpPr/>
          <p:nvPr/>
        </p:nvSpPr>
        <p:spPr>
          <a:xfrm>
            <a:off x="6080760" y="237744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Role PM"/>
          <p:cNvSpPr/>
          <p:nvPr/>
        </p:nvSpPr>
        <p:spPr>
          <a:xfrm>
            <a:off x="4023360" y="2697480"/>
            <a:ext cx="411480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Project Manager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进度、预算、协调</a:t>
            </a:r>
            <a:endParaRPr lang="en-US" sz="1400" dirty="0"/>
          </a:p>
        </p:txBody>
      </p:sp>
      <p:sp>
        <p:nvSpPr>
          <p:cNvPr id="10" name="Link 2"/>
          <p:cNvSpPr/>
          <p:nvPr/>
        </p:nvSpPr>
        <p:spPr>
          <a:xfrm>
            <a:off x="6080760" y="374904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1" name="Link bar"/>
          <p:cNvSpPr/>
          <p:nvPr/>
        </p:nvSpPr>
        <p:spPr>
          <a:xfrm>
            <a:off x="2377440" y="4069080"/>
            <a:ext cx="740664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2" name="Link leaf 1"/>
          <p:cNvSpPr/>
          <p:nvPr/>
        </p:nvSpPr>
        <p:spPr>
          <a:xfrm>
            <a:off x="2377440" y="406908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3" name="Role Senior + Junior Designer"/>
          <p:cNvSpPr/>
          <p:nvPr/>
        </p:nvSpPr>
        <p:spPr>
          <a:xfrm>
            <a:off x="548640" y="438912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544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Senior + Junior Designer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方案深化和图纸</a:t>
            </a:r>
            <a:endParaRPr lang="en-US" sz="1400" dirty="0"/>
          </a:p>
        </p:txBody>
      </p:sp>
      <p:sp>
        <p:nvSpPr>
          <p:cNvPr id="16" name="Link leaf 2"/>
          <p:cNvSpPr/>
          <p:nvPr/>
        </p:nvSpPr>
        <p:spPr>
          <a:xfrm>
            <a:off x="6126480" y="406908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7" name="Role Procurement / Sourcing"/>
          <p:cNvSpPr/>
          <p:nvPr/>
        </p:nvSpPr>
        <p:spPr>
          <a:xfrm>
            <a:off x="4297680" y="438912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4544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Procurement / Sourcing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材料和家具采购</a:t>
            </a:r>
            <a:endParaRPr lang="en-US" sz="1400" dirty="0"/>
          </a:p>
        </p:txBody>
      </p:sp>
      <p:sp>
        <p:nvSpPr>
          <p:cNvPr id="20" name="Link leaf 3"/>
          <p:cNvSpPr/>
          <p:nvPr/>
        </p:nvSpPr>
        <p:spPr>
          <a:xfrm>
            <a:off x="9875520" y="406908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1" name="Role Site Supervisor / CoW"/>
          <p:cNvSpPr/>
          <p:nvPr/>
        </p:nvSpPr>
        <p:spPr>
          <a:xfrm>
            <a:off x="8046720" y="4389120"/>
            <a:ext cx="36576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75320" y="4544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Site Supervisor / CoW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现场监工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CoW = Clerk of Works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 设计流程：6 个标准化阶段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1470660" y="1874520"/>
            <a:ext cx="92202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" name="Stage dot 1"/>
          <p:cNvSpPr/>
          <p:nvPr/>
        </p:nvSpPr>
        <p:spPr>
          <a:xfrm>
            <a:off x="11506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6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age card 1"/>
          <p:cNvSpPr/>
          <p:nvPr/>
        </p:nvSpPr>
        <p:spPr>
          <a:xfrm>
            <a:off x="62179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概念方案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Concept Design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概念图、初步预算、风格提案</a:t>
            </a:r>
            <a:endParaRPr lang="en-US" sz="1400" dirty="0"/>
          </a:p>
        </p:txBody>
      </p:sp>
      <p:sp>
        <p:nvSpPr>
          <p:cNvPr id="11" name="Stage dot 2"/>
          <p:cNvSpPr/>
          <p:nvPr/>
        </p:nvSpPr>
        <p:spPr>
          <a:xfrm>
            <a:off x="29946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46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age card 2"/>
          <p:cNvSpPr/>
          <p:nvPr/>
        </p:nvSpPr>
        <p:spPr>
          <a:xfrm>
            <a:off x="246583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0299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深化设计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0299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Design Development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0299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0299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平面、立面、3D 效果图、材料规格</a:t>
            </a:r>
            <a:endParaRPr lang="en-US" sz="1400" dirty="0"/>
          </a:p>
        </p:txBody>
      </p:sp>
      <p:sp>
        <p:nvSpPr>
          <p:cNvPr id="18" name="Stage dot 3"/>
          <p:cNvSpPr/>
          <p:nvPr/>
        </p:nvSpPr>
        <p:spPr>
          <a:xfrm>
            <a:off x="483870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387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tage card 3"/>
          <p:cNvSpPr/>
          <p:nvPr/>
        </p:nvSpPr>
        <p:spPr>
          <a:xfrm>
            <a:off x="430987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4703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施工图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44703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Construction Documentation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4703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4703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完整施工图、详图、规格书</a:t>
            </a:r>
            <a:endParaRPr lang="en-US" sz="1400" dirty="0"/>
          </a:p>
        </p:txBody>
      </p:sp>
      <p:sp>
        <p:nvSpPr>
          <p:cNvPr id="25" name="Stage dot 4"/>
          <p:cNvSpPr/>
          <p:nvPr/>
        </p:nvSpPr>
        <p:spPr>
          <a:xfrm>
            <a:off x="6682740" y="15544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827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tage card 4"/>
          <p:cNvSpPr/>
          <p:nvPr/>
        </p:nvSpPr>
        <p:spPr>
          <a:xfrm>
            <a:off x="615391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107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招标与采购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Tender &amp; Procurement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招标文件、承包商比价、采购订单</a:t>
            </a:r>
            <a:endParaRPr lang="en-US" sz="1400" dirty="0"/>
          </a:p>
        </p:txBody>
      </p:sp>
      <p:sp>
        <p:nvSpPr>
          <p:cNvPr id="32" name="Stage dot 5"/>
          <p:cNvSpPr/>
          <p:nvPr/>
        </p:nvSpPr>
        <p:spPr>
          <a:xfrm>
            <a:off x="8526780" y="15544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267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tage card 5"/>
          <p:cNvSpPr/>
          <p:nvPr/>
        </p:nvSpPr>
        <p:spPr>
          <a:xfrm>
            <a:off x="799795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3511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施工管理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13511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Construction Administration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13511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13511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现场监工、变更指令、进度报告</a:t>
            </a:r>
            <a:endParaRPr lang="en-US" sz="1400" dirty="0"/>
          </a:p>
        </p:txBody>
      </p:sp>
      <p:sp>
        <p:nvSpPr>
          <p:cNvPr id="39" name="Stage dot 6"/>
          <p:cNvSpPr/>
          <p:nvPr/>
        </p:nvSpPr>
        <p:spPr>
          <a:xfrm>
            <a:off x="10370820" y="15544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3708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41" name="Stage card 6"/>
          <p:cNvSpPr/>
          <p:nvPr/>
        </p:nvSpPr>
        <p:spPr>
          <a:xfrm>
            <a:off x="9841992" y="2468880"/>
            <a:ext cx="1697736" cy="2743200"/>
          </a:xfrm>
          <a:prstGeom prst="roundRect">
            <a:avLst>
              <a:gd name="adj" fmla="val 6463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79152" y="2651760"/>
            <a:ext cx="142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完工验收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979152" y="310896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Handover &amp; Defects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979152" y="3840480"/>
            <a:ext cx="1423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交付物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979152" y="4160520"/>
            <a:ext cx="1423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缺陷清单、操作手册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1–3 阶段：设计工作（收设计费）    4–6 阶段：执行与交付（收项目管理费和尾款）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收费跟着阶段走：做到哪里，收到哪里</a:t>
            </a:r>
            <a:endParaRPr lang="en-US" sz="3000" dirty="0"/>
          </a:p>
        </p:txBody>
      </p:sp>
      <p:graphicFrame>
        <p:nvGraphicFramePr>
          <p:cNvPr id="8" name="Fe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收费节点（常见）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Concept Design 概念方案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设计费 30–40%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Design Development 深化设计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设计费 30–40%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Construction Documentation 施工图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设计费 20–30%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Tender &amp; Procurement 招标与采购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项目管理费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Construction Administration 施工管理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项目管理费分期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Handover &amp; Defects 完工验收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尾款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ee note 设计费"/>
          <p:cNvSpPr/>
          <p:nvPr/>
        </p:nvSpPr>
        <p:spPr>
          <a:xfrm>
            <a:off x="7955280" y="137160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设计费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前 3 个阶段分期收取，合计 100%</a:t>
            </a:r>
            <a:endParaRPr lang="en-US" sz="1300" dirty="0"/>
          </a:p>
        </p:txBody>
      </p:sp>
      <p:sp>
        <p:nvSpPr>
          <p:cNvPr id="7" name="Fee note 项目管理费"/>
          <p:cNvSpPr/>
          <p:nvPr/>
        </p:nvSpPr>
        <p:spPr>
          <a:xfrm>
            <a:off x="7955280" y="274320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项目管理费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覆盖招标采购与施工管理，按进度分期</a:t>
            </a:r>
            <a:endParaRPr lang="en-US" sz="1300" dirty="0"/>
          </a:p>
        </p:txBody>
      </p:sp>
      <p:sp>
        <p:nvSpPr>
          <p:cNvPr id="10" name="Fee note 尾款"/>
          <p:cNvSpPr/>
          <p:nvPr/>
        </p:nvSpPr>
        <p:spPr>
          <a:xfrm>
            <a:off x="7955280" y="411480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尾款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完工验收、缺陷处理后收取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  质量控制：三道关卡层层把关</a:t>
            </a:r>
            <a:endParaRPr lang="en-US" sz="3000" dirty="0"/>
          </a:p>
        </p:txBody>
      </p:sp>
      <p:sp>
        <p:nvSpPr>
          <p:cNvPr id="3" name="Gate 1"/>
          <p:cNvSpPr/>
          <p:nvPr/>
        </p:nvSpPr>
        <p:spPr>
          <a:xfrm>
            <a:off x="54864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Design Review Meeting circle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sign Review Meeting icon" descr="Design Review Me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9842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第一关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Design Review Meeting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51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设计评审会：多位资深设计师共同审核方案</a:t>
            </a:r>
            <a:endParaRPr lang="en-US" sz="1400" dirty="0"/>
          </a:p>
        </p:txBody>
      </p:sp>
      <p:sp>
        <p:nvSpPr>
          <p:cNvPr id="9" name="Gate arrow 1"/>
          <p:cNvSpPr/>
          <p:nvPr/>
        </p:nvSpPr>
        <p:spPr>
          <a:xfrm>
            <a:off x="4005072" y="338328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Gate 2"/>
          <p:cNvSpPr/>
          <p:nvPr/>
        </p:nvSpPr>
        <p:spPr>
          <a:xfrm>
            <a:off x="434340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1" name="Quality Check circle"/>
          <p:cNvSpPr/>
          <p:nvPr/>
        </p:nvSpPr>
        <p:spPr>
          <a:xfrm>
            <a:off x="470916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Quality Check icon" descr="Quality 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9842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第二关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Quality Check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4251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所有图纸和规格书都要经过 QC 流程</a:t>
            </a:r>
            <a:endParaRPr lang="en-US" sz="1400" dirty="0"/>
          </a:p>
        </p:txBody>
      </p:sp>
      <p:sp>
        <p:nvSpPr>
          <p:cNvPr id="16" name="Gate arrow 2"/>
          <p:cNvSpPr/>
          <p:nvPr/>
        </p:nvSpPr>
        <p:spPr>
          <a:xfrm>
            <a:off x="7799832" y="3383280"/>
            <a:ext cx="27432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Gate 3"/>
          <p:cNvSpPr/>
          <p:nvPr/>
        </p:nvSpPr>
        <p:spPr>
          <a:xfrm>
            <a:off x="813816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/>
        </p:spPr>
      </p:sp>
      <p:sp>
        <p:nvSpPr>
          <p:cNvPr id="18" name="Design Director 把关 circle"/>
          <p:cNvSpPr/>
          <p:nvPr/>
        </p:nvSpPr>
        <p:spPr>
          <a:xfrm>
            <a:off x="850392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Design Director 把关 icon" descr="Design Director 把关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198424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039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第三关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Design Director 把关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4251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重要项目由设计总监亲自审核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  财务与行政：让设计师专心做设计</a:t>
            </a:r>
            <a:endParaRPr lang="en-US" sz="3000" dirty="0"/>
          </a:p>
        </p:txBody>
      </p:sp>
      <p:sp>
        <p:nvSpPr>
          <p:cNvPr id="3" name="Ops 独立财务团队"/>
          <p:cNvSpPr/>
          <p:nvPr/>
        </p:nvSpPr>
        <p:spPr>
          <a:xfrm>
            <a:off x="54864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独立财务团队 circle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独立财务团队 icon" descr="独立财务团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196413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独立财务团队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2900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开票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收款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成本控制</a:t>
            </a:r>
            <a:endParaRPr lang="en-US" sz="1500" dirty="0"/>
          </a:p>
        </p:txBody>
      </p:sp>
      <p:sp>
        <p:nvSpPr>
          <p:cNvPr id="8" name="Ops 行政与 HR"/>
          <p:cNvSpPr/>
          <p:nvPr/>
        </p:nvSpPr>
        <p:spPr>
          <a:xfrm>
            <a:off x="434340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行政与 HR circle"/>
          <p:cNvSpPr/>
          <p:nvPr/>
        </p:nvSpPr>
        <p:spPr>
          <a:xfrm>
            <a:off x="470916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行政与 HR icon" descr="行政与 H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211" y="196413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行政与 HR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42900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支持公司日常运作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招聘与人事管理</a:t>
            </a:r>
            <a:endParaRPr lang="en-US" sz="1500" dirty="0"/>
          </a:p>
        </p:txBody>
      </p:sp>
      <p:sp>
        <p:nvSpPr>
          <p:cNvPr id="13" name="Ops 项目管理系统"/>
          <p:cNvSpPr/>
          <p:nvPr/>
        </p:nvSpPr>
        <p:spPr>
          <a:xfrm>
            <a:off x="8138160" y="1463040"/>
            <a:ext cx="3383280" cy="365760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项目管理系统 circle"/>
          <p:cNvSpPr/>
          <p:nvPr/>
        </p:nvSpPr>
        <p:spPr>
          <a:xfrm>
            <a:off x="8503920" y="178308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项目管理系统 icon" descr="项目管理系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971" y="19641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项目管理系统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342900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Monday.com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Asana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或自建系统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追踪所有项目进度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  收入结构：设计费 + 项目管理费为主</a:t>
            </a:r>
            <a:endParaRPr lang="en-US" sz="3000" dirty="0"/>
          </a:p>
        </p:txBody>
      </p:sp>
      <p:sp>
        <p:nvSpPr>
          <p:cNvPr id="3" name="Stat design fee"/>
          <p:cNvSpPr/>
          <p:nvPr/>
        </p:nvSpPr>
        <p:spPr>
          <a:xfrm>
            <a:off x="548640" y="1417320"/>
            <a:ext cx="5394960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8–15%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设计费（占项目总造价）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大型商业项目比例较低，高端住宅较高</a:t>
            </a:r>
            <a:endParaRPr lang="en-US" sz="1400" dirty="0"/>
          </a:p>
        </p:txBody>
      </p:sp>
      <p:sp>
        <p:nvSpPr>
          <p:cNvPr id="7" name="Stat PM fee"/>
          <p:cNvSpPr/>
          <p:nvPr/>
        </p:nvSpPr>
        <p:spPr>
          <a:xfrm>
            <a:off x="6217920" y="1417320"/>
            <a:ext cx="53949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3–8%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项目管理费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108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在设计费之外另行收取</a:t>
            </a:r>
            <a:endParaRPr lang="en-US" sz="1400" dirty="0"/>
          </a:p>
        </p:txBody>
      </p:sp>
      <p:sp>
        <p:nvSpPr>
          <p:cNvPr id="11" name="采购回扣 circle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采购回扣 icon" descr="采购回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40283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17320" y="4224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采购回扣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部分公司透明处理，或不收取</a:t>
            </a:r>
            <a:endParaRPr lang="en-US" sz="1400" dirty="0"/>
          </a:p>
        </p:txBody>
      </p:sp>
      <p:sp>
        <p:nvSpPr>
          <p:cNvPr id="15" name="重复业务与转介 circle"/>
          <p:cNvSpPr/>
          <p:nvPr/>
        </p:nvSpPr>
        <p:spPr>
          <a:xfrm>
            <a:off x="6217920" y="4251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重复业务与转介 icon" descr="重复业务与转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44028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86600" y="4224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重复业务与转介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08660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稳定收入的重要来源</a:t>
            </a:r>
            <a:endParaRPr lang="en-US" sz="1400" dirty="0"/>
          </a:p>
        </p:txBody>
      </p:sp>
      <p:sp>
        <p:nvSpPr>
          <p:cNvPr id="19" name="Example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7C52"/>
                </a:solidFill>
              </a:rPr>
              <a:t>举例：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造价 RM 100 万的项目 → 设计费约 RM 8–15 万，项目管理费约 RM 3–8 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  团队规模：几十人同时推进十几个项目</a:t>
            </a:r>
            <a:endParaRPr lang="en-US" sz="3000" dirty="0"/>
          </a:p>
        </p:txBody>
      </p:sp>
      <p:sp>
        <p:nvSpPr>
          <p:cNvPr id="3" name="Big stat 1"/>
          <p:cNvSpPr/>
          <p:nvPr/>
        </p:nvSpPr>
        <p:spPr>
          <a:xfrm>
            <a:off x="548640" y="141732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15–40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 人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设计团队规模</a:t>
            </a:r>
            <a:endParaRPr lang="en-US" sz="1800" dirty="0"/>
          </a:p>
        </p:txBody>
      </p:sp>
      <p:sp>
        <p:nvSpPr>
          <p:cNvPr id="6" name="Big stat 2"/>
          <p:cNvSpPr/>
          <p:nvPr/>
        </p:nvSpPr>
        <p:spPr>
          <a:xfrm>
            <a:off x="548640" y="379476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23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8–20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 个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12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同时进行的项目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常见项目类型</a:t>
            </a:r>
            <a:endParaRPr lang="en-US" sz="1600" dirty="0"/>
          </a:p>
        </p:txBody>
      </p:sp>
      <p:sp>
        <p:nvSpPr>
          <p:cNvPr id="10" name="Type 高端住宅"/>
          <p:cNvSpPr/>
          <p:nvPr/>
        </p:nvSpPr>
        <p:spPr>
          <a:xfrm>
            <a:off x="5760720" y="196596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高端住宅 circle"/>
          <p:cNvSpPr/>
          <p:nvPr/>
        </p:nvSpPr>
        <p:spPr>
          <a:xfrm>
            <a:off x="5989320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高端住宅 icon" descr="高端住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138" y="2289658"/>
            <a:ext cx="358445" cy="35844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76656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高端住宅</a:t>
            </a:r>
            <a:endParaRPr lang="en-US" sz="1600" dirty="0"/>
          </a:p>
        </p:txBody>
      </p:sp>
      <p:sp>
        <p:nvSpPr>
          <p:cNvPr id="14" name="Type 酒店"/>
          <p:cNvSpPr/>
          <p:nvPr/>
        </p:nvSpPr>
        <p:spPr>
          <a:xfrm>
            <a:off x="8732520" y="196596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酒店 circle"/>
          <p:cNvSpPr/>
          <p:nvPr/>
        </p:nvSpPr>
        <p:spPr>
          <a:xfrm>
            <a:off x="8961120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酒店 icon" descr="酒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938" y="2289658"/>
            <a:ext cx="358445" cy="35844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73836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酒店</a:t>
            </a:r>
            <a:endParaRPr lang="en-US" sz="1600" dirty="0"/>
          </a:p>
        </p:txBody>
      </p:sp>
      <p:sp>
        <p:nvSpPr>
          <p:cNvPr id="18" name="Type 办公室"/>
          <p:cNvSpPr/>
          <p:nvPr/>
        </p:nvSpPr>
        <p:spPr>
          <a:xfrm>
            <a:off x="5760720" y="32004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9" name="办公室 circle"/>
          <p:cNvSpPr/>
          <p:nvPr/>
        </p:nvSpPr>
        <p:spPr>
          <a:xfrm>
            <a:off x="59893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办公室 icon" descr="办公室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138" y="352409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665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办公室</a:t>
            </a:r>
            <a:endParaRPr lang="en-US" sz="1600" dirty="0"/>
          </a:p>
        </p:txBody>
      </p:sp>
      <p:sp>
        <p:nvSpPr>
          <p:cNvPr id="22" name="Type 商场"/>
          <p:cNvSpPr/>
          <p:nvPr/>
        </p:nvSpPr>
        <p:spPr>
          <a:xfrm>
            <a:off x="8732520" y="32004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3" name="商场 circle"/>
          <p:cNvSpPr/>
          <p:nvPr/>
        </p:nvSpPr>
        <p:spPr>
          <a:xfrm>
            <a:off x="89611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商场 icon" descr="商场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938" y="352409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383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商场</a:t>
            </a:r>
            <a:endParaRPr lang="en-US" sz="1600" dirty="0"/>
          </a:p>
        </p:txBody>
      </p:sp>
      <p:sp>
        <p:nvSpPr>
          <p:cNvPr id="26" name="Type 医院"/>
          <p:cNvSpPr/>
          <p:nvPr/>
        </p:nvSpPr>
        <p:spPr>
          <a:xfrm>
            <a:off x="5760720" y="443484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7" name="医院 circle"/>
          <p:cNvSpPr/>
          <p:nvPr/>
        </p:nvSpPr>
        <p:spPr>
          <a:xfrm>
            <a:off x="5989320" y="4617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医院 icon" descr="医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0138" y="4758538"/>
            <a:ext cx="358445" cy="35844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66560" y="4617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医院</a:t>
            </a:r>
            <a:endParaRPr lang="en-US" sz="1600" dirty="0"/>
          </a:p>
        </p:txBody>
      </p:sp>
      <p:sp>
        <p:nvSpPr>
          <p:cNvPr id="30" name="Type 其他大型项目"/>
          <p:cNvSpPr/>
          <p:nvPr/>
        </p:nvSpPr>
        <p:spPr>
          <a:xfrm>
            <a:off x="8732520" y="443484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1" name="其他大型项目 circle"/>
          <p:cNvSpPr/>
          <p:nvPr/>
        </p:nvSpPr>
        <p:spPr>
          <a:xfrm>
            <a:off x="8961120" y="4617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其他大型项目 icon" descr="其他大型项目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938" y="4758538"/>
            <a:ext cx="358445" cy="35844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738360" y="4617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其他大型项目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补充：值得进一步核实的要点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以下不在原笔记中，数字与法规会变化，落地前请向专业人士或官方渠道核实</a:t>
            </a:r>
            <a:endParaRPr lang="en-US" sz="1200" dirty="0"/>
          </a:p>
        </p:txBody>
      </p:sp>
      <p:sp>
        <p:nvSpPr>
          <p:cNvPr id="4" name="Extra 资质与注册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资质与注册 circle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资质与注册 icon" descr="资质与注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0967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资质与注册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LAM 注册室内设计师；行业协会 MIID；承接施工需 CIDB 注册</a:t>
            </a:r>
            <a:endParaRPr lang="en-US" sz="1400" dirty="0"/>
          </a:p>
        </p:txBody>
      </p:sp>
      <p:sp>
        <p:nvSpPr>
          <p:cNvPr id="9" name="Extra 税务"/>
          <p:cNvSpPr/>
          <p:nvPr/>
        </p:nvSpPr>
        <p:spPr>
          <a:xfrm>
            <a:off x="429768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税务 circle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税务 icon" descr="税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0967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税务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专业服务或需缴 SST，报价与合同写明是否含税</a:t>
            </a:r>
            <a:endParaRPr lang="en-US" sz="1400" dirty="0"/>
          </a:p>
        </p:txBody>
      </p:sp>
      <p:sp>
        <p:nvSpPr>
          <p:cNvPr id="14" name="Extra 合同风险"/>
          <p:cNvSpPr/>
          <p:nvPr/>
        </p:nvSpPr>
        <p:spPr>
          <a:xfrm>
            <a:off x="8046720" y="16916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合同风险 circle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合同风险 icon" descr="合同风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20967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965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合同风险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变更指令、保留金、缺陷责任期、专业责任保险</a:t>
            </a:r>
            <a:endParaRPr lang="en-US" sz="1400" dirty="0"/>
          </a:p>
        </p:txBody>
      </p:sp>
      <p:sp>
        <p:nvSpPr>
          <p:cNvPr id="19" name="Extra 现金流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现金流 circle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现金流 icon" descr="现金流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43369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现金流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签约订金、按阶段开票、催收流程</a:t>
            </a:r>
            <a:endParaRPr lang="en-US" sz="1400" dirty="0"/>
          </a:p>
        </p:txBody>
      </p:sp>
      <p:sp>
        <p:nvSpPr>
          <p:cNvPr id="24" name="Extra 经营指标"/>
          <p:cNvSpPr/>
          <p:nvPr/>
        </p:nvSpPr>
        <p:spPr>
          <a:xfrm>
            <a:off x="429768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5" name="经营指标 circle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经营指标 icon" descr="经营指标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3369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经营指标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人均产值、项目毛利率、工时利用率、应收天数</a:t>
            </a:r>
            <a:endParaRPr lang="en-US" sz="1400" dirty="0"/>
          </a:p>
        </p:txBody>
      </p:sp>
      <p:sp>
        <p:nvSpPr>
          <p:cNvPr id="29" name="Extra 知识沉淀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0" name="知识沉淀 circle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知识沉淀 icon" descr="知识沉淀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799" y="433699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知识沉淀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标准图库、材料库、供应商名录、项目复盘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流程标准化 + 团队专业分工 + 严格的质量控制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这是正规大型公司最核心的特点，而不是靠个人能力单打独斗</a:t>
            </a:r>
            <a:endParaRPr lang="en-US" sz="1800" dirty="0"/>
          </a:p>
        </p:txBody>
      </p:sp>
      <p:sp>
        <p:nvSpPr>
          <p:cNvPr id="4" name="流程 circle"/>
          <p:cNvSpPr/>
          <p:nvPr/>
        </p:nvSpPr>
        <p:spPr>
          <a:xfrm>
            <a:off x="914400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流程 icon" descr="流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68" y="166420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0" y="1463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流程</a:t>
            </a:r>
            <a:endParaRPr lang="en-US" sz="2000" dirty="0"/>
          </a:p>
        </p:txBody>
      </p:sp>
      <p:sp>
        <p:nvSpPr>
          <p:cNvPr id="7" name="分工 circle"/>
          <p:cNvSpPr/>
          <p:nvPr/>
        </p:nvSpPr>
        <p:spPr>
          <a:xfrm>
            <a:off x="9144000" y="27889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分工 icon" descr="分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29900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0" y="27889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分工</a:t>
            </a:r>
            <a:endParaRPr lang="en-US" sz="2000" dirty="0"/>
          </a:p>
        </p:txBody>
      </p:sp>
      <p:sp>
        <p:nvSpPr>
          <p:cNvPr id="10" name="质控 circle"/>
          <p:cNvSpPr/>
          <p:nvPr/>
        </p:nvSpPr>
        <p:spPr>
          <a:xfrm>
            <a:off x="9144000" y="4114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质控 icon" descr="质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431596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241280" y="4114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质控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nut Studio">
  <a:themeElements>
    <a:clrScheme name="Walnut Studio">
      <a:dk1>
        <a:srgbClr val="26231F"/>
      </a:dk1>
      <a:lt1>
        <a:srgbClr val="FFFFFF"/>
      </a:lt1>
      <a:dk2>
        <a:srgbClr val="5A4A3C"/>
      </a:dk2>
      <a:lt2>
        <a:srgbClr val="F1EEE9"/>
      </a:lt2>
      <a:accent1>
        <a:srgbClr val="A67C52"/>
      </a:accent1>
      <a:accent2>
        <a:srgbClr val="C9A15B"/>
      </a:accent2>
      <a:accent3>
        <a:srgbClr val="6E7F73"/>
      </a:accent3>
      <a:accent4>
        <a:srgbClr val="8A8F99"/>
      </a:accent4>
      <a:accent5>
        <a:srgbClr val="B5654A"/>
      </a:accent5>
      <a:accent6>
        <a:srgbClr val="3E5C76"/>
      </a:accent6>
      <a:hlink>
        <a:srgbClr val="A67C52"/>
      </a:hlink>
      <a:folHlink>
        <a:srgbClr val="6E7F73"/>
      </a:folHlink>
    </a:clrScheme>
    <a:fontScheme name="Walnut Studio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大型 Interior Design Firm 的运作模式</dc:title>
  <dc:subject>PptxGenJS Presentation</dc:subject>
  <dc:creator>PptxGenJS</dc:creator>
  <cp:lastModifiedBy>PptxGenJS</cp:lastModifiedBy>
  <cp:revision>1</cp:revision>
  <dcterms:created xsi:type="dcterms:W3CDTF">2026-10-25T18:04:30Z</dcterms:created>
  <dcterms:modified xsi:type="dcterms:W3CDTF">2026-10-25T18:04:30Z</dcterms:modified>
</cp:coreProperties>
</file>