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概览" id="{68933809-3296-3289-95d7-1b2f18b2ef54}">
          <p14:sldIdLst>
            <p14:sldId id="256"/>
            <p14:sldId id="257"/>
          </p14:sldIdLst>
        </p14:section>
        <p14:section name="人与业务" id="{1e280ae5-750a-cfd5-884e-02566f920cf2}">
          <p14:sldIdLst>
            <p14:sldId id="258"/>
            <p14:sldId id="259"/>
          </p14:sldIdLst>
        </p14:section>
        <p14:section name="流程与收入" id="{425ec963-1b18-187e-d59b-6c233cd2a386}">
          <p14:sldIdLst>
            <p14:sldId id="260"/>
            <p14:sldId id="261"/>
            <p14:sldId id="262"/>
            <p14:sldId id="263"/>
          </p14:sldIdLst>
        </p14:section>
        <p14:section name="对比与总结" id="{02bbbdce-4c48-e23d-5161-2907e7a25122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这份简报整理 3 到 10 人小型室内设计公司的运作方式，并与大型公司做对比。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先讲结论：小公司本质是 Principal 个人能力驱动，大公司是系统和团队驱动。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小公司团队高度重叠：Principal 同时负责业务开发、设计总监、项目管理和部分监工，下面只有一到三名设计师和一名可选的行政助理。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小公司主要靠口碑转介、Instagram 和建筑师推荐获客，由 Principal 本人谈客户，很少有专职 BD 团队。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和大公司的六阶段流程相比，小公司每一步都更简化，而且几乎每一步都有 Principal 本人参与。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这一页从流程表里提炼出四个隐患：修改过多、设计深度不足、施工图外包、采购议价能力弱。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小公司主要做高端住宅、私人别墅、SOHO 和小型商业空间，很少接酒店、商场、医院，因为团队和资金实力不足。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小公司设计费比例约 12 到 20%，高于大公司；不少公司依赖采购回扣；老板自己做设计利润高但工作量极大。举例金额按比例直接换算。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小公司灵活但分工少，质量依赖老板个人；大公司分工细、有系统审核，同时项目数量多得多。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小公司常见的三个问题：老板太累、难以规模化、一个大项目出问题就可能倒闭。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总结：小公司本质是 Principal 个人能力驱动，流程简单但高度依赖老板；大型公司是系统和团队驱动。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小规模 Interior Design Firm 的运作模式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小规模 Interior Design Firm 的运作模式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3–10 人的小公司 / 小工作室 · 与大型公司对比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8778240" y="1828800"/>
            <a:ext cx="2651760" cy="2651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Hero icon" descr="设计工具图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4231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核心：小公司靠老板，大公司靠系统</a:t>
            </a:r>
            <a:endParaRPr lang="en-US" sz="3000" dirty="0"/>
          </a:p>
        </p:txBody>
      </p:sp>
      <p:sp>
        <p:nvSpPr>
          <p:cNvPr id="3" name="Side 小公司"/>
          <p:cNvSpPr/>
          <p:nvPr/>
        </p:nvSpPr>
        <p:spPr>
          <a:xfrm>
            <a:off x="548640" y="137160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/>
        </p:spPr>
      </p:sp>
      <p:sp>
        <p:nvSpPr>
          <p:cNvPr id="4" name="小公司 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小公司 icon" descr="小公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" y="18726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小公司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Principal 个人能力驱动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00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流程简单、灵活，但高度依赖老板</a:t>
            </a:r>
            <a:endParaRPr lang="en-US" sz="1400" dirty="0"/>
          </a:p>
        </p:txBody>
      </p:sp>
      <p:sp>
        <p:nvSpPr>
          <p:cNvPr id="9" name="Side 大公司"/>
          <p:cNvSpPr/>
          <p:nvPr/>
        </p:nvSpPr>
        <p:spPr>
          <a:xfrm>
            <a:off x="6217920" y="137160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大公司 circle"/>
          <p:cNvSpPr/>
          <p:nvPr/>
        </p:nvSpPr>
        <p:spPr>
          <a:xfrm>
            <a:off x="6583680" y="169164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大公司 icon" descr="大公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731" y="187269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大公司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系统和团队驱动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3200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流程标准化、专业分工、系统化质控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本简报涵盖的 7 个环节</a:t>
            </a:r>
            <a:endParaRPr lang="en-US" sz="1600" dirty="0"/>
          </a:p>
        </p:txBody>
      </p:sp>
      <p:sp>
        <p:nvSpPr>
          <p:cNvPr id="16" name="Agenda num 1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4663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团队结构</a:t>
            </a:r>
            <a:endParaRPr lang="en-US" sz="1500" dirty="0"/>
          </a:p>
        </p:txBody>
      </p:sp>
      <p:sp>
        <p:nvSpPr>
          <p:cNvPr id="19" name="Agenda num 2"/>
          <p:cNvSpPr/>
          <p:nvPr/>
        </p:nvSpPr>
        <p:spPr>
          <a:xfrm>
            <a:off x="3360420" y="46634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36042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3954780" y="4663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业务开发</a:t>
            </a:r>
            <a:endParaRPr lang="en-US" sz="1500" dirty="0"/>
          </a:p>
        </p:txBody>
      </p:sp>
      <p:sp>
        <p:nvSpPr>
          <p:cNvPr id="22" name="Agenda num 3"/>
          <p:cNvSpPr/>
          <p:nvPr/>
        </p:nvSpPr>
        <p:spPr>
          <a:xfrm>
            <a:off x="6172200" y="46634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1722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766560" y="4663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项目流程</a:t>
            </a:r>
            <a:endParaRPr lang="en-US" sz="1500" dirty="0"/>
          </a:p>
        </p:txBody>
      </p:sp>
      <p:sp>
        <p:nvSpPr>
          <p:cNvPr id="25" name="Agenda num 4"/>
          <p:cNvSpPr/>
          <p:nvPr/>
        </p:nvSpPr>
        <p:spPr>
          <a:xfrm>
            <a:off x="8983980" y="46634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9839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9578340" y="4663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项目类型</a:t>
            </a:r>
            <a:endParaRPr lang="en-US" sz="1500" dirty="0"/>
          </a:p>
        </p:txBody>
      </p:sp>
      <p:sp>
        <p:nvSpPr>
          <p:cNvPr id="28" name="Agenda num 5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114300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收入模式</a:t>
            </a:r>
            <a:endParaRPr lang="en-US" sz="1500" dirty="0"/>
          </a:p>
        </p:txBody>
      </p:sp>
      <p:sp>
        <p:nvSpPr>
          <p:cNvPr id="31" name="Agenda num 6"/>
          <p:cNvSpPr/>
          <p:nvPr/>
        </p:nvSpPr>
        <p:spPr>
          <a:xfrm>
            <a:off x="3360420" y="53492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336042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395478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优缺点对比</a:t>
            </a:r>
            <a:endParaRPr lang="en-US" sz="1500" dirty="0"/>
          </a:p>
        </p:txBody>
      </p:sp>
      <p:sp>
        <p:nvSpPr>
          <p:cNvPr id="34" name="Agenda num 7"/>
          <p:cNvSpPr/>
          <p:nvPr/>
        </p:nvSpPr>
        <p:spPr>
          <a:xfrm>
            <a:off x="6172200" y="53492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17220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76656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现实问题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  团队结构：Principal 一人身兼多职</a:t>
            </a:r>
            <a:endParaRPr lang="en-US" sz="3000" dirty="0"/>
          </a:p>
        </p:txBody>
      </p:sp>
      <p:sp>
        <p:nvSpPr>
          <p:cNvPr id="3" name="Principal hub"/>
          <p:cNvSpPr/>
          <p:nvPr/>
        </p:nvSpPr>
        <p:spPr>
          <a:xfrm>
            <a:off x="2331720" y="2423160"/>
            <a:ext cx="2194560" cy="21945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331720" y="24231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15B"/>
                </a:solidFill>
              </a:rPr>
              <a:t>Principal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Owner</a:t>
            </a:r>
            <a:endParaRPr lang="en-US" sz="1800" dirty="0"/>
          </a:p>
        </p:txBody>
      </p:sp>
      <p:sp>
        <p:nvSpPr>
          <p:cNvPr id="5" name="Hat 业务开发"/>
          <p:cNvSpPr/>
          <p:nvPr/>
        </p:nvSpPr>
        <p:spPr>
          <a:xfrm>
            <a:off x="548640" y="137160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业务开发 circle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业务开发 icon" descr="业务开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751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业务开发</a:t>
            </a:r>
            <a:endParaRPr lang="en-US" sz="1600" dirty="0"/>
          </a:p>
        </p:txBody>
      </p:sp>
      <p:sp>
        <p:nvSpPr>
          <p:cNvPr id="9" name="Hat 设计总监"/>
          <p:cNvSpPr/>
          <p:nvPr/>
        </p:nvSpPr>
        <p:spPr>
          <a:xfrm>
            <a:off x="4206240" y="137160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设计总监 circle"/>
          <p:cNvSpPr/>
          <p:nvPr/>
        </p:nvSpPr>
        <p:spPr>
          <a:xfrm>
            <a:off x="43891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设计总监 icon" descr="设计总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821" y="16751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1554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设计总监</a:t>
            </a:r>
            <a:endParaRPr lang="en-US" sz="1600" dirty="0"/>
          </a:p>
        </p:txBody>
      </p:sp>
      <p:sp>
        <p:nvSpPr>
          <p:cNvPr id="13" name="Hat 项目管理"/>
          <p:cNvSpPr/>
          <p:nvPr/>
        </p:nvSpPr>
        <p:spPr>
          <a:xfrm>
            <a:off x="548640" y="475488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项目管理 circle"/>
          <p:cNvSpPr/>
          <p:nvPr/>
        </p:nvSpPr>
        <p:spPr>
          <a:xfrm>
            <a:off x="731520" y="4937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项目管理 icon" descr="项目管理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50584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4937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项目管理</a:t>
            </a:r>
            <a:endParaRPr lang="en-US" sz="1600" dirty="0"/>
          </a:p>
        </p:txBody>
      </p:sp>
      <p:sp>
        <p:nvSpPr>
          <p:cNvPr id="17" name="Hat 施工监工"/>
          <p:cNvSpPr/>
          <p:nvPr/>
        </p:nvSpPr>
        <p:spPr>
          <a:xfrm>
            <a:off x="4206240" y="475488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施工监工 circle"/>
          <p:cNvSpPr/>
          <p:nvPr/>
        </p:nvSpPr>
        <p:spPr>
          <a:xfrm>
            <a:off x="4389120" y="4937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施工监工 icon" descr="施工监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821" y="505846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74920" y="4937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施工监工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9494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团队组成（3–10 人）</a:t>
            </a:r>
            <a:endParaRPr lang="en-US" sz="1600" dirty="0"/>
          </a:p>
        </p:txBody>
      </p:sp>
      <p:sp>
        <p:nvSpPr>
          <p:cNvPr id="22" name="Member Principal / Owner"/>
          <p:cNvSpPr/>
          <p:nvPr/>
        </p:nvSpPr>
        <p:spPr>
          <a:xfrm>
            <a:off x="6949440" y="1874520"/>
            <a:ext cx="466344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178040" y="187452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24" name="Text 18"/>
          <p:cNvSpPr txBox="1"/>
          <p:nvPr/>
        </p:nvSpPr>
        <p:spPr>
          <a:xfrm>
            <a:off x="827532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Principal / Owner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2753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全能角色，经常亲自带项目</a:t>
            </a:r>
            <a:endParaRPr lang="en-US" sz="1400" dirty="0"/>
          </a:p>
        </p:txBody>
      </p:sp>
      <p:sp>
        <p:nvSpPr>
          <p:cNvPr id="26" name="Member 设计师"/>
          <p:cNvSpPr/>
          <p:nvPr/>
        </p:nvSpPr>
        <p:spPr>
          <a:xfrm>
            <a:off x="6949440" y="3200400"/>
            <a:ext cx="4663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178040" y="320040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1–3</a:t>
            </a:r>
            <a:endParaRPr lang="en-US" sz="2800" dirty="0"/>
          </a:p>
        </p:txBody>
      </p:sp>
      <p:sp>
        <p:nvSpPr>
          <p:cNvPr id="28" name="Text 22"/>
          <p:cNvSpPr txBox="1"/>
          <p:nvPr/>
        </p:nvSpPr>
        <p:spPr>
          <a:xfrm>
            <a:off x="82753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设计师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82753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Senior + Junior</a:t>
            </a:r>
            <a:endParaRPr lang="en-US" sz="1400" dirty="0"/>
          </a:p>
        </p:txBody>
      </p:sp>
      <p:sp>
        <p:nvSpPr>
          <p:cNvPr id="30" name="Member 行政 / 助理"/>
          <p:cNvSpPr/>
          <p:nvPr/>
        </p:nvSpPr>
        <p:spPr>
          <a:xfrm>
            <a:off x="6949440" y="4526280"/>
            <a:ext cx="4663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7178040" y="452628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0–1</a:t>
            </a:r>
            <a:endParaRPr lang="en-US" sz="2800" dirty="0"/>
          </a:p>
        </p:txBody>
      </p:sp>
      <p:sp>
        <p:nvSpPr>
          <p:cNvPr id="32" name="Text 26"/>
          <p:cNvSpPr txBox="1"/>
          <p:nvPr/>
        </p:nvSpPr>
        <p:spPr>
          <a:xfrm>
            <a:off x="827532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行政 / 助理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827532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可选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6949440" y="5852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职能高度重叠：大公司由不同的人负责的工作，在这里集中到老板一个人身上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  业务开发：靠口碑，靠老板自己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三大获客渠道</a:t>
            </a:r>
            <a:endParaRPr lang="en-US" sz="1600" dirty="0"/>
          </a:p>
        </p:txBody>
      </p:sp>
      <p:sp>
        <p:nvSpPr>
          <p:cNvPr id="4" name="Channel 口碑转介"/>
          <p:cNvSpPr/>
          <p:nvPr/>
        </p:nvSpPr>
        <p:spPr>
          <a:xfrm>
            <a:off x="548640" y="1828800"/>
            <a:ext cx="2148840" cy="274320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5" name="口碑转介 circle"/>
          <p:cNvSpPr/>
          <p:nvPr/>
        </p:nvSpPr>
        <p:spPr>
          <a:xfrm>
            <a:off x="1207008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口碑转介 icon" descr="口碑转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059" y="22841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108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口碑转介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11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老客户介绍新客户</a:t>
            </a:r>
            <a:endParaRPr lang="en-US" sz="1300" dirty="0"/>
          </a:p>
        </p:txBody>
      </p:sp>
      <p:sp>
        <p:nvSpPr>
          <p:cNvPr id="9" name="Channel Instagram"/>
          <p:cNvSpPr/>
          <p:nvPr/>
        </p:nvSpPr>
        <p:spPr>
          <a:xfrm>
            <a:off x="2926080" y="1828800"/>
            <a:ext cx="2148840" cy="274320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0" name="Instagram circle"/>
          <p:cNvSpPr/>
          <p:nvPr/>
        </p:nvSpPr>
        <p:spPr>
          <a:xfrm>
            <a:off x="3584448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nstagram icon" descr="Inst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499" y="228417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63240" y="3108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Instagram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108960" y="3611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作品展示、吸引私人业主</a:t>
            </a:r>
            <a:endParaRPr lang="en-US" sz="1300" dirty="0"/>
          </a:p>
        </p:txBody>
      </p:sp>
      <p:sp>
        <p:nvSpPr>
          <p:cNvPr id="14" name="Channel 建筑师推荐"/>
          <p:cNvSpPr/>
          <p:nvPr/>
        </p:nvSpPr>
        <p:spPr>
          <a:xfrm>
            <a:off x="5303520" y="1828800"/>
            <a:ext cx="2148840" cy="274320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5" name="建筑师推荐 circle"/>
          <p:cNvSpPr/>
          <p:nvPr/>
        </p:nvSpPr>
        <p:spPr>
          <a:xfrm>
            <a:off x="5961888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建筑师推荐 icon" descr="建筑师推荐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939" y="228417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40680" y="3108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建筑师推荐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0" y="3611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合作建筑师转介项目</a:t>
            </a:r>
            <a:endParaRPr lang="en-US" sz="1300" dirty="0"/>
          </a:p>
        </p:txBody>
      </p:sp>
      <p:sp>
        <p:nvSpPr>
          <p:cNvPr id="19" name="BD panel"/>
          <p:cNvSpPr/>
          <p:nvPr/>
        </p:nvSpPr>
        <p:spPr>
          <a:xfrm>
            <a:off x="7863840" y="1325880"/>
            <a:ext cx="3749040" cy="3931920"/>
          </a:xfrm>
          <a:prstGeom prst="roundRect">
            <a:avLst>
              <a:gd name="adj" fmla="val 2927"/>
            </a:avLst>
          </a:prstGeom>
          <a:solidFill>
            <a:schemeClr val="tx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18388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谁来谈客户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183880" y="2103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Principal 自己负责谈客户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1838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和大公司的区别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183880" y="36576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很少有专职 BD 团队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很少参与大型招标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客户来源集中在老板的人脉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846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渠道成本低，但业务量随老板的时间和人脉波动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  项目流程：大幅简化，老板全程参与</a:t>
            </a:r>
            <a:endParaRPr lang="en-US" sz="3000" dirty="0"/>
          </a:p>
        </p:txBody>
      </p:sp>
      <p:graphicFrame>
        <p:nvGraphicFramePr>
          <p:cNvPr id="6" name="Proces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937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3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小公司做法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3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与大公司的主要区别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3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Principal 直接谈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更灵活，但容易被客户要求过多修改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概念设计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Principal 主导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速度快，但深度可能不足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深化设计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1–2 名设计师完成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经常 Principal 自己改图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施工图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简化版或外包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很多小公司会外包给绘图员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Principal 自己找供应商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议价能力较弱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现场监工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Principal 或 Senior Designer 兼任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经常 Principal 亲自跑工地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项目管理系统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Excel + WhatsApp + Google Drive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很少用 Monday.com 这类专业系统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简化流程的代价：快和灵活，换来四个隐患</a:t>
            </a:r>
            <a:endParaRPr lang="en-US" sz="3000" dirty="0"/>
          </a:p>
        </p:txBody>
      </p:sp>
      <p:sp>
        <p:nvSpPr>
          <p:cNvPr id="3" name="Cost 修改过多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修改过多 circle"/>
          <p:cNvSpPr/>
          <p:nvPr/>
        </p:nvSpPr>
        <p:spPr>
          <a:xfrm>
            <a:off x="868680" y="169164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修改过多 icon" descr="修改过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1862633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691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修改过多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老板直接谈单，缺少合同和流程约束，容易被客户要求反复修改</a:t>
            </a:r>
            <a:endParaRPr lang="en-US" sz="1400" dirty="0"/>
          </a:p>
        </p:txBody>
      </p:sp>
      <p:sp>
        <p:nvSpPr>
          <p:cNvPr id="8" name="Cost 深度不足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深度不足 circle"/>
          <p:cNvSpPr/>
          <p:nvPr/>
        </p:nvSpPr>
        <p:spPr>
          <a:xfrm>
            <a:off x="6537960" y="169164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深度不足 icon" descr="深度不足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953" y="186263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1691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深度不足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606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概念设计速度快，但深度可能不足；深化阶段常由老板自己改图</a:t>
            </a:r>
            <a:endParaRPr lang="en-US" sz="1400" dirty="0"/>
          </a:p>
        </p:txBody>
      </p:sp>
      <p:sp>
        <p:nvSpPr>
          <p:cNvPr id="13" name="Cost 施工图外包"/>
          <p:cNvSpPr/>
          <p:nvPr/>
        </p:nvSpPr>
        <p:spPr>
          <a:xfrm>
            <a:off x="548640" y="374904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施工图外包 circle"/>
          <p:cNvSpPr/>
          <p:nvPr/>
        </p:nvSpPr>
        <p:spPr>
          <a:xfrm>
            <a:off x="868680" y="406908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施工图外包 icon" descr="施工图外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73" y="4240073"/>
            <a:ext cx="435254" cy="43525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74520" y="4069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施工图外包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68680" y="4983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施工图简化或外包给绘图员，质量取决于外包方</a:t>
            </a:r>
            <a:endParaRPr lang="en-US" sz="1400" dirty="0"/>
          </a:p>
        </p:txBody>
      </p:sp>
      <p:sp>
        <p:nvSpPr>
          <p:cNvPr id="18" name="Cost 议价能力弱"/>
          <p:cNvSpPr/>
          <p:nvPr/>
        </p:nvSpPr>
        <p:spPr>
          <a:xfrm>
            <a:off x="6217920" y="374904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议价能力弱 circle"/>
          <p:cNvSpPr/>
          <p:nvPr/>
        </p:nvSpPr>
        <p:spPr>
          <a:xfrm>
            <a:off x="6537960" y="406908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议价能力弱 icon" descr="议价能力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953" y="4240073"/>
            <a:ext cx="435254" cy="43525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43800" y="4069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议价能力弱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537960" y="4983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老板自己找供应商，采购量小，价格和交期都难争取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  项目类型：专注住宅和小型商业空间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主要做</a:t>
            </a:r>
            <a:endParaRPr lang="en-US" sz="1600" dirty="0"/>
          </a:p>
        </p:txBody>
      </p:sp>
      <p:sp>
        <p:nvSpPr>
          <p:cNvPr id="4" name="Yes 高端住宅"/>
          <p:cNvSpPr/>
          <p:nvPr/>
        </p:nvSpPr>
        <p:spPr>
          <a:xfrm>
            <a:off x="548640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高端住宅 circle"/>
          <p:cNvSpPr/>
          <p:nvPr/>
        </p:nvSpPr>
        <p:spPr>
          <a:xfrm>
            <a:off x="1463040" y="20574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高端住宅 icon" descr="高端住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033" y="2228393"/>
            <a:ext cx="435254" cy="435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高端住宅</a:t>
            </a:r>
            <a:endParaRPr lang="en-US" sz="1700" dirty="0"/>
          </a:p>
        </p:txBody>
      </p:sp>
      <p:sp>
        <p:nvSpPr>
          <p:cNvPr id="8" name="Yes 私人别墅"/>
          <p:cNvSpPr/>
          <p:nvPr/>
        </p:nvSpPr>
        <p:spPr>
          <a:xfrm>
            <a:off x="3383280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9" name="私人别墅 circle"/>
          <p:cNvSpPr/>
          <p:nvPr/>
        </p:nvSpPr>
        <p:spPr>
          <a:xfrm>
            <a:off x="4297680" y="20574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私人别墅 icon" descr="私人别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673" y="222839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私人别墅</a:t>
            </a:r>
            <a:endParaRPr lang="en-US" sz="1700" dirty="0"/>
          </a:p>
        </p:txBody>
      </p:sp>
      <p:sp>
        <p:nvSpPr>
          <p:cNvPr id="12" name="Yes SOHO"/>
          <p:cNvSpPr/>
          <p:nvPr/>
        </p:nvSpPr>
        <p:spPr>
          <a:xfrm>
            <a:off x="6217920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3" name="SOHO circle"/>
          <p:cNvSpPr/>
          <p:nvPr/>
        </p:nvSpPr>
        <p:spPr>
          <a:xfrm>
            <a:off x="7132320" y="20574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SOHO icon" descr="SOH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313" y="2228393"/>
            <a:ext cx="435254" cy="43525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5508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SOHO</a:t>
            </a:r>
            <a:endParaRPr lang="en-US" sz="1700" dirty="0"/>
          </a:p>
        </p:txBody>
      </p:sp>
      <p:sp>
        <p:nvSpPr>
          <p:cNvPr id="16" name="Yes 小型商业空间"/>
          <p:cNvSpPr/>
          <p:nvPr/>
        </p:nvSpPr>
        <p:spPr>
          <a:xfrm>
            <a:off x="9052560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7" name="小型商业空间 circle"/>
          <p:cNvSpPr/>
          <p:nvPr/>
        </p:nvSpPr>
        <p:spPr>
          <a:xfrm>
            <a:off x="9966960" y="20574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小型商业空间 icon" descr="小型商业空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953" y="2228393"/>
            <a:ext cx="435254" cy="43525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8972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小型商业空间</a:t>
            </a:r>
            <a:endParaRPr lang="en-US" sz="1700" dirty="0"/>
          </a:p>
        </p:txBody>
      </p:sp>
      <p:sp>
        <p:nvSpPr>
          <p:cNvPr id="20" name="No panel"/>
          <p:cNvSpPr/>
          <p:nvPr/>
        </p:nvSpPr>
        <p:spPr>
          <a:xfrm>
            <a:off x="548640" y="4069080"/>
            <a:ext cx="11064240" cy="192024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6868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很少接</a:t>
            </a:r>
            <a:endParaRPr lang="en-US" sz="1600" dirty="0"/>
          </a:p>
        </p:txBody>
      </p:sp>
      <p:sp>
        <p:nvSpPr>
          <p:cNvPr id="22" name="大型酒店 circle"/>
          <p:cNvSpPr/>
          <p:nvPr/>
        </p:nvSpPr>
        <p:spPr>
          <a:xfrm>
            <a:off x="868680" y="48463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大型酒店 icon" descr="大型酒店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4987138"/>
            <a:ext cx="358445" cy="35844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45920" y="4846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大型酒店</a:t>
            </a:r>
            <a:endParaRPr lang="en-US" sz="1600" dirty="0"/>
          </a:p>
        </p:txBody>
      </p:sp>
      <p:sp>
        <p:nvSpPr>
          <p:cNvPr id="25" name="商场 circle"/>
          <p:cNvSpPr/>
          <p:nvPr/>
        </p:nvSpPr>
        <p:spPr>
          <a:xfrm>
            <a:off x="2971800" y="48463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商场 icon" descr="商场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2618" y="4987138"/>
            <a:ext cx="358445" cy="35844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749040" y="4846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商场</a:t>
            </a:r>
            <a:endParaRPr lang="en-US" sz="1600" dirty="0"/>
          </a:p>
        </p:txBody>
      </p:sp>
      <p:sp>
        <p:nvSpPr>
          <p:cNvPr id="28" name="医院 circle"/>
          <p:cNvSpPr/>
          <p:nvPr/>
        </p:nvSpPr>
        <p:spPr>
          <a:xfrm>
            <a:off x="5074920" y="48463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9" name="医院 icon" descr="医院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5738" y="4987138"/>
            <a:ext cx="358445" cy="35844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852160" y="4846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医院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7498080" y="42976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15B"/>
                </a:solidFill>
              </a:rPr>
              <a:t>原因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团队规模和资金实力不足，撑不起大型项目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  收入模式：比例更高，但更依赖老板</a:t>
            </a:r>
            <a:endParaRPr lang="en-US" sz="3000" dirty="0"/>
          </a:p>
        </p:txBody>
      </p:sp>
      <p:sp>
        <p:nvSpPr>
          <p:cNvPr id="3" name="Stat design fee"/>
          <p:cNvSpPr/>
          <p:nvPr/>
        </p:nvSpPr>
        <p:spPr>
          <a:xfrm>
            <a:off x="548640" y="1417320"/>
            <a:ext cx="5394960" cy="27432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12–20%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设计费（占项目总造价）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比大公司的 8–15% 更高</a:t>
            </a:r>
            <a:endParaRPr lang="en-US" sz="1400" dirty="0"/>
          </a:p>
        </p:txBody>
      </p:sp>
      <p:sp>
        <p:nvSpPr>
          <p:cNvPr id="7" name="Rev 采购回扣"/>
          <p:cNvSpPr/>
          <p:nvPr/>
        </p:nvSpPr>
        <p:spPr>
          <a:xfrm>
            <a:off x="6217920" y="141732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采购回扣 circle"/>
          <p:cNvSpPr/>
          <p:nvPr/>
        </p:nvSpPr>
        <p:spPr>
          <a:xfrm>
            <a:off x="6492240" y="16916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采购回扣 icon" descr="采购回扣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3174" y="1852574"/>
            <a:ext cx="409651" cy="40965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5236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采购回扣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2103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很多小公司会依赖这部分收入</a:t>
            </a:r>
            <a:endParaRPr lang="en-US" sz="1400" dirty="0"/>
          </a:p>
        </p:txBody>
      </p:sp>
      <p:sp>
        <p:nvSpPr>
          <p:cNvPr id="12" name="Rev Principal 自己做设计"/>
          <p:cNvSpPr/>
          <p:nvPr/>
        </p:nvSpPr>
        <p:spPr>
          <a:xfrm>
            <a:off x="6217920" y="288036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3" name="Principal 自己做设计 circle"/>
          <p:cNvSpPr/>
          <p:nvPr/>
        </p:nvSpPr>
        <p:spPr>
          <a:xfrm>
            <a:off x="6492240" y="31546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Principal 自己做设计 icon" descr="Principal 自己做设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174" y="3315614"/>
            <a:ext cx="409651" cy="40965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52360" y="3108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Principal 自己做设计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745236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利润更高，但工作量极大</a:t>
            </a:r>
            <a:endParaRPr lang="en-US" sz="1400" dirty="0"/>
          </a:p>
        </p:txBody>
      </p:sp>
      <p:sp>
        <p:nvSpPr>
          <p:cNvPr id="17" name="Example"/>
          <p:cNvSpPr/>
          <p:nvPr/>
        </p:nvSpPr>
        <p:spPr>
          <a:xfrm>
            <a:off x="548640" y="448056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68680" y="4480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A67C52"/>
                </a:solidFill>
              </a:rPr>
              <a:t>举例：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造价 RM 100 万的项目 → 小公司设计费约 RM 12–20 万，大公司约 RM 8–15 万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A4A3C"/>
                </a:solidFill>
              </a:rPr>
              <a:t>比例更高，但小公司通常只做较小的项目，总营收仍远低于大公司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6  小公司 vs 大公司：各有取舍</a:t>
            </a:r>
            <a:endParaRPr lang="en-US" sz="3000" dirty="0"/>
          </a:p>
        </p:txBody>
      </p:sp>
      <p:graphicFrame>
        <p:nvGraphicFramePr>
          <p:cNvPr id="1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23774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3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小公司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3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大公司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31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灵活性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67C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专业分工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67C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质量控制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 Principal 个人能力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67C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有系统审核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同时接项目数量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通常 3–6 个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8–20 个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Principal 工作强度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565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非常高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相对较低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客户类型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中高端住宅为主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 + 高端住宅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ig 小公司同时项目数"/>
          <p:cNvSpPr/>
          <p:nvPr/>
        </p:nvSpPr>
        <p:spPr>
          <a:xfrm>
            <a:off x="8412480" y="1325880"/>
            <a:ext cx="3200400" cy="2011680"/>
          </a:xfrm>
          <a:prstGeom prst="roundRect">
            <a:avLst>
              <a:gd name="adj" fmla="val 5455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0" y="1554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3–6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651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小公司同时项目数</a:t>
            </a:r>
            <a:endParaRPr lang="en-US" sz="1500" dirty="0"/>
          </a:p>
        </p:txBody>
      </p:sp>
      <p:sp>
        <p:nvSpPr>
          <p:cNvPr id="7" name="Big 大公司同时项目数"/>
          <p:cNvSpPr/>
          <p:nvPr/>
        </p:nvSpPr>
        <p:spPr>
          <a:xfrm>
            <a:off x="8412480" y="3611880"/>
            <a:ext cx="3200400" cy="201168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0" y="3840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8–20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4937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大公司同时项目数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  现实问题：很多小公司最终会遇到的三道坎</a:t>
            </a:r>
            <a:endParaRPr lang="en-US" sz="3000" dirty="0"/>
          </a:p>
        </p:txBody>
      </p:sp>
      <p:sp>
        <p:nvSpPr>
          <p:cNvPr id="3" name="Risk 1"/>
          <p:cNvSpPr/>
          <p:nvPr/>
        </p:nvSpPr>
        <p:spPr>
          <a:xfrm>
            <a:off x="548640" y="1463040"/>
            <a:ext cx="3383280" cy="365760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Principal 太累 circle"/>
          <p:cNvSpPr/>
          <p:nvPr/>
        </p:nvSpPr>
        <p:spPr>
          <a:xfrm>
            <a:off x="914400" y="178308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Principal 太累 icon" descr="Principal 太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9842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Principal 太累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023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既要谈客户、做设计、监工，又要管钱</a:t>
            </a:r>
            <a:endParaRPr lang="en-US" sz="1500" dirty="0"/>
          </a:p>
        </p:txBody>
      </p:sp>
      <p:sp>
        <p:nvSpPr>
          <p:cNvPr id="9" name="Risk 2"/>
          <p:cNvSpPr/>
          <p:nvPr/>
        </p:nvSpPr>
        <p:spPr>
          <a:xfrm>
            <a:off x="4343400" y="1463040"/>
            <a:ext cx="3383280" cy="365760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0" name="难以规模化 circle"/>
          <p:cNvSpPr/>
          <p:nvPr/>
        </p:nvSpPr>
        <p:spPr>
          <a:xfrm>
            <a:off x="4709160" y="178308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难以规模化 icon" descr="难以规模化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98424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难以规模化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4023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业务量受限于老板一个人的时间和精力</a:t>
            </a:r>
            <a:endParaRPr lang="en-US" sz="1500" dirty="0"/>
          </a:p>
        </p:txBody>
      </p:sp>
      <p:sp>
        <p:nvSpPr>
          <p:cNvPr id="15" name="Risk 3"/>
          <p:cNvSpPr/>
          <p:nvPr/>
        </p:nvSpPr>
        <p:spPr>
          <a:xfrm>
            <a:off x="8138160" y="1463040"/>
            <a:ext cx="3383280" cy="365760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/>
        </p:spPr>
      </p:sp>
      <p:sp>
        <p:nvSpPr>
          <p:cNvPr id="16" name="抗风险能力弱 circle"/>
          <p:cNvSpPr/>
          <p:nvPr/>
        </p:nvSpPr>
        <p:spPr>
          <a:xfrm>
            <a:off x="8503920" y="178308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抗风险能力弱 icon" descr="抗风险能力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198424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0392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50392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抗风险能力弱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4023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一个大项目出问题，就可能拖垮整家公司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小公司靠 Principal 个人能力，大公司靠系统和团队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小公司流程简单、灵活，但高度依赖老板</a:t>
            </a:r>
            <a:endParaRPr lang="en-US" sz="1800" dirty="0"/>
          </a:p>
        </p:txBody>
      </p:sp>
      <p:sp>
        <p:nvSpPr>
          <p:cNvPr id="4" name="小公司 circle"/>
          <p:cNvSpPr/>
          <p:nvPr/>
        </p:nvSpPr>
        <p:spPr>
          <a:xfrm>
            <a:off x="8869680" y="19202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小公司 icon" descr="小公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0965" y="2141525"/>
            <a:ext cx="563270" cy="5632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0" y="1920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小公司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9A15B"/>
                </a:solidFill>
              </a:rPr>
              <a:t>个人能力驱动</a:t>
            </a:r>
            <a:endParaRPr lang="en-US" sz="2000" dirty="0"/>
          </a:p>
        </p:txBody>
      </p:sp>
      <p:sp>
        <p:nvSpPr>
          <p:cNvPr id="7" name="大公司 circle"/>
          <p:cNvSpPr/>
          <p:nvPr/>
        </p:nvSpPr>
        <p:spPr>
          <a:xfrm>
            <a:off x="8869680" y="347472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大公司 icon" descr="大公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965" y="3696005"/>
            <a:ext cx="563270" cy="56327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0" y="3474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大公司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9A15B"/>
                </a:solidFill>
              </a:rPr>
              <a:t>系统和团队驱动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lnut Studio">
  <a:themeElements>
    <a:clrScheme name="Walnut Studio">
      <a:dk1>
        <a:srgbClr val="26231F"/>
      </a:dk1>
      <a:lt1>
        <a:srgbClr val="FFFFFF"/>
      </a:lt1>
      <a:dk2>
        <a:srgbClr val="5A4A3C"/>
      </a:dk2>
      <a:lt2>
        <a:srgbClr val="F1EEE9"/>
      </a:lt2>
      <a:accent1>
        <a:srgbClr val="A67C52"/>
      </a:accent1>
      <a:accent2>
        <a:srgbClr val="C9A15B"/>
      </a:accent2>
      <a:accent3>
        <a:srgbClr val="6E7F73"/>
      </a:accent3>
      <a:accent4>
        <a:srgbClr val="8A8F99"/>
      </a:accent4>
      <a:accent5>
        <a:srgbClr val="B5654A"/>
      </a:accent5>
      <a:accent6>
        <a:srgbClr val="3E5C76"/>
      </a:accent6>
      <a:hlink>
        <a:srgbClr val="A67C52"/>
      </a:hlink>
      <a:folHlink>
        <a:srgbClr val="6E7F73"/>
      </a:folHlink>
    </a:clrScheme>
    <a:fontScheme name="Walnut Studio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小规模 Interior Design Firm 的运作模式</dc:title>
  <dc:subject>PptxGenJS Presentation</dc:subject>
  <dc:creator>PptxGenJS</dc:creator>
  <cp:lastModifiedBy>PptxGenJS</cp:lastModifiedBy>
  <cp:revision>1</cp:revision>
  <dcterms:created xsi:type="dcterms:W3CDTF">2026-10-25T18:13:07Z</dcterms:created>
  <dcterms:modified xsi:type="dcterms:W3CDTF">2026-10-25T18:13:07Z</dcterms:modified>
</cp:coreProperties>
</file>